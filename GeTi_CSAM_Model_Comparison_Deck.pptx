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71" d="100"/>
          <a:sy n="171" d="100"/>
        </p:scale>
        <p:origin x="323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371294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122E4D"/>
                </a:solidFill>
                <a:latin typeface="Aptos"/>
              </a:rPr>
              <a:t>Ge</a:t>
            </a:r>
            <a:r>
              <a:rPr lang="en-US" sz="2400" b="1" dirty="0">
                <a:solidFill>
                  <a:srgbClr val="122E4D"/>
                </a:solidFill>
                <a:latin typeface="Aptos"/>
              </a:rPr>
              <a:t>t</a:t>
            </a:r>
            <a:r>
              <a:rPr sz="2400" b="1" dirty="0">
                <a:solidFill>
                  <a:srgbClr val="122E4D"/>
                </a:solidFill>
                <a:latin typeface="Aptos"/>
              </a:rPr>
              <a:t>i CSAM NVL </a:t>
            </a:r>
            <a:r>
              <a:rPr lang="en-US" sz="2400" b="1" dirty="0">
                <a:solidFill>
                  <a:srgbClr val="122E4D"/>
                </a:solidFill>
                <a:latin typeface="Aptos"/>
              </a:rPr>
              <a:t>Test Runs</a:t>
            </a:r>
            <a:endParaRPr sz="2400" b="1" dirty="0">
              <a:solidFill>
                <a:srgbClr val="122E4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8493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dirty="0">
                <a:solidFill>
                  <a:srgbClr val="4A5560"/>
                </a:solidFill>
                <a:latin typeface="Aptos"/>
              </a:rPr>
              <a:t>Defect detection experiment: setup, run plan, and model selection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320" y="665464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dirty="0">
                <a:solidFill>
                  <a:srgbClr val="4A5560"/>
                </a:solidFill>
                <a:latin typeface="Aptos"/>
              </a:rPr>
              <a:t>Benchmark: 20 NVL images, same frozen evaluation basis across all 3 model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802666"/>
            <a:ext cx="1737360" cy="82296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Benchmark</a:t>
            </a:r>
          </a:p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802666"/>
            <a:ext cx="1737360" cy="82296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Bad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802666"/>
            <a:ext cx="1737360" cy="822960"/>
          </a:xfrm>
          <a:prstGeom prst="rect">
            <a:avLst/>
          </a:prstGeom>
          <a:solidFill>
            <a:srgbClr val="1057AE"/>
          </a:solidFill>
          <a:ln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Good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802666"/>
            <a:ext cx="2011680" cy="82296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Segm.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mAP 22.82%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802666"/>
            <a:ext cx="1920240" cy="82296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36576" rIns="45720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Web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24→78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r>
              <a:rPr sz="1500" b="1" dirty="0">
                <a:solidFill>
                  <a:srgbClr val="1057AE"/>
                </a:solidFill>
                <a:latin typeface="Aptos"/>
              </a:rPr>
              <a:t>DOE objective</a:t>
            </a:r>
            <a:endParaRPr lang="en-US" sz="1500" b="1" dirty="0">
              <a:solidFill>
                <a:srgbClr val="1057AE"/>
              </a:solidFill>
              <a:latin typeface="Aptos"/>
            </a:endParaRPr>
          </a:p>
          <a:p>
            <a:endParaRPr sz="1500" b="1" dirty="0">
              <a:solidFill>
                <a:srgbClr val="1057AE"/>
              </a:solidFill>
              <a:latin typeface="Aptos"/>
            </a:endParaRP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Compare 3 model families on the same NVL CSAM dataset.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Answer which task is best for screening, localization, and engineering review.</a:t>
            </a:r>
          </a:p>
          <a:p>
            <a:pPr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Quantify trade-offs in accuracy, speed, complexity, and deployment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73736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Run setup</a:t>
            </a:r>
            <a:endParaRPr lang="en-US" sz="1500" b="1" dirty="0">
              <a:solidFill>
                <a:srgbClr val="1057AE"/>
              </a:solidFill>
              <a:latin typeface="Aptos"/>
            </a:endParaRP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Dataset: 20 NVL images = 14 defect-positive + 6 good units.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Labels: Delamination and Inclusion/Void under the current Web Geti taxonomy.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Design: one frozen split reused across all tasks; equal data and evaluation basis.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Device: same training environment and same run constraints for each candidate.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73736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What we are testing</a:t>
            </a:r>
            <a:endParaRPr lang="en-US" sz="1500" b="1" dirty="0">
              <a:solidFill>
                <a:srgbClr val="1057AE"/>
              </a:solidFill>
              <a:latin typeface="Aptos"/>
            </a:endParaRP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Detection = fast defect presence + bounding-box localization.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Anomaly = abnormality screening when defect taxonomy is incomplete.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Segmentation = pixel-level masks for geometry and engineering detail.</a:t>
            </a:r>
          </a:p>
        </p:txBody>
      </p:sp>
      <p:pic>
        <p:nvPicPr>
          <p:cNvPr id="14" name="Picture 13" descr="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188" y="4094505"/>
            <a:ext cx="4987976" cy="26258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98BE68-4BAF-1DEC-7740-AB4D86F35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495" y="4094505"/>
            <a:ext cx="961231" cy="26258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E4D"/>
                </a:solidFill>
                <a:latin typeface="Aptos"/>
              </a:rPr>
              <a:t>Detection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408"/>
            <a:ext cx="335059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00B050"/>
                </a:solidFill>
                <a:latin typeface="Aptos"/>
              </a:rPr>
              <a:t>Bounding-box localization for rapid defect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18564" y="1458579"/>
            <a:ext cx="3779148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lang="en-US" sz="1500" b="1" dirty="0">
                <a:solidFill>
                  <a:srgbClr val="1057AE"/>
                </a:solidFill>
                <a:latin typeface="Aptos"/>
              </a:rPr>
              <a:t>Detection Model</a:t>
            </a: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Detection defines a defect as a localized object: a bounding box identifies the region of interest without tracing the exact boundary.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18564" y="3284034"/>
            <a:ext cx="3779148" cy="2419813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Objective</a:t>
            </a:r>
            <a:r>
              <a:rPr sz="1100" dirty="0">
                <a:solidFill>
                  <a:srgbClr val="122E4D"/>
                </a:solidFill>
                <a:latin typeface="Aptos"/>
              </a:rPr>
              <a:t>: identify whether a defect is present and roughly where it is located.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Parameters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box-level localization, lighter annotation burden, faster training and inference.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Results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strong for first-pass review and obvious defects; weaker on irregular boundaries and exact sizing.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Improvement</a:t>
            </a:r>
            <a:r>
              <a:rPr sz="1100" dirty="0">
                <a:solidFill>
                  <a:srgbClr val="122E4D"/>
                </a:solidFill>
                <a:latin typeface="Aptos"/>
              </a:rPr>
              <a:t>: add low-contrast and edge-case images; tune confidence thresholds; use as a front-end filter to segmentation.</a:t>
            </a:r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58" y="1458578"/>
            <a:ext cx="7820447" cy="42452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E4D"/>
                </a:solidFill>
                <a:latin typeface="Aptos"/>
              </a:rPr>
              <a:t>Anomaly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8932"/>
            <a:ext cx="294183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00B050"/>
                </a:solidFill>
                <a:latin typeface="Aptos"/>
              </a:rPr>
              <a:t>Normal-vs-abnormal screening for deviations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7413" y="1280160"/>
            <a:ext cx="414156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lang="en-US" sz="1500" b="1" dirty="0">
                <a:solidFill>
                  <a:srgbClr val="1057AE"/>
                </a:solidFill>
                <a:latin typeface="Aptos"/>
              </a:rPr>
              <a:t>Anomaly Model</a:t>
            </a:r>
          </a:p>
          <a:p>
            <a:pPr algn="l"/>
            <a:endParaRPr lang="en-US"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Anomaly detection learns the normal pattern and flags anything that deviates from it. It is useful when the defect taxonomy is incomplete or when unknown patterns may appear.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Operational meaning: why this task exists and when it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7413" y="2943922"/>
            <a:ext cx="4141563" cy="22246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Objective</a:t>
            </a:r>
            <a:r>
              <a:rPr sz="1100" dirty="0">
                <a:solidFill>
                  <a:srgbClr val="122E4D"/>
                </a:solidFill>
                <a:latin typeface="Aptos"/>
              </a:rPr>
              <a:t>: catch abnormal scan behavior before the defect is explicitly labeled.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Parameters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trained against good-unit baselines; sensitive to brightness, texture, and process drift.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Results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useful for screening and prioritization; higher false alarm risk than explicit defect models.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Improvement</a:t>
            </a:r>
            <a:r>
              <a:rPr sz="1100" dirty="0">
                <a:solidFill>
                  <a:srgbClr val="122E4D"/>
                </a:solidFill>
                <a:latin typeface="Aptos"/>
              </a:rPr>
              <a:t>: increase good-unit diversity; calibrate thresholds; combine with a downstream detection or segmentation pass.</a:t>
            </a:r>
          </a:p>
        </p:txBody>
      </p:sp>
      <p:pic>
        <p:nvPicPr>
          <p:cNvPr id="7" name="Picture 6" descr="Results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765" y="1280160"/>
            <a:ext cx="7393822" cy="38884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E4D"/>
                </a:solidFill>
                <a:latin typeface="Aptos"/>
              </a:rPr>
              <a:t>Instance Segmentation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033"/>
            <a:ext cx="30636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00B050"/>
                </a:solidFill>
                <a:latin typeface="Aptos"/>
              </a:rPr>
              <a:t>Pixel-level mask generation for defect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5303" y="1280160"/>
            <a:ext cx="4029677" cy="1368255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1057AE"/>
                </a:solidFill>
                <a:latin typeface="Aptos"/>
              </a:rPr>
              <a:t>Instance Segmentation Model</a:t>
            </a:r>
          </a:p>
          <a:p>
            <a:pPr algn="l">
              <a:spcAft>
                <a:spcPts val="400"/>
              </a:spcAft>
            </a:pPr>
            <a:r>
              <a:rPr sz="1100" dirty="0">
                <a:solidFill>
                  <a:srgbClr val="122E4D"/>
                </a:solidFill>
                <a:latin typeface="Aptos"/>
              </a:rPr>
              <a:t>Instance segmentation assigns a mask to each individual defect. This captures the exact shape, size, and boundary, which is critical when defect geometry drives severity and root-cause interpretation.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03" y="2834640"/>
            <a:ext cx="4029677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Objective</a:t>
            </a:r>
            <a:r>
              <a:rPr sz="1100" dirty="0">
                <a:solidFill>
                  <a:srgbClr val="122E4D"/>
                </a:solidFill>
                <a:latin typeface="Aptos"/>
              </a:rPr>
              <a:t>: localize every defect instance at pixel level and preserve defect morphology.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Parameters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mask-based training, higher annotation effort, greater computational cost, better localization precision.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Results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best technical precision; NVL baseline </a:t>
            </a:r>
            <a:r>
              <a:rPr sz="1100" dirty="0" err="1">
                <a:solidFill>
                  <a:srgbClr val="122E4D"/>
                </a:solidFill>
                <a:latin typeface="Aptos"/>
              </a:rPr>
              <a:t>mAP</a:t>
            </a:r>
            <a:r>
              <a:rPr sz="1100" dirty="0">
                <a:solidFill>
                  <a:srgbClr val="122E4D"/>
                </a:solidFill>
                <a:latin typeface="Aptos"/>
              </a:rPr>
              <a:t> 22.82%, mAP@0.5 46.53%, mAP@0.75 14.85%, best validation checkpoint </a:t>
            </a:r>
            <a:r>
              <a:rPr sz="1100" dirty="0" err="1">
                <a:solidFill>
                  <a:srgbClr val="122E4D"/>
                </a:solidFill>
                <a:latin typeface="Aptos"/>
              </a:rPr>
              <a:t>mAP</a:t>
            </a:r>
            <a:r>
              <a:rPr sz="1100" dirty="0">
                <a:solidFill>
                  <a:srgbClr val="122E4D"/>
                </a:solidFill>
                <a:latin typeface="Aptos"/>
              </a:rPr>
              <a:t> 28.59%, mAP@0.5 79.21%.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Improvement</a:t>
            </a:r>
            <a:r>
              <a:rPr sz="1100" dirty="0">
                <a:solidFill>
                  <a:srgbClr val="122E4D"/>
                </a:solidFill>
                <a:latin typeface="Aptos"/>
              </a:rPr>
              <a:t>: improve annotation consistency on subtle boundaries; add challenging multi-instance and low-contrast examples; refine threshold tuning.</a:t>
            </a:r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190" y="1399032"/>
            <a:ext cx="7802507" cy="4093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22E4D"/>
                </a:solidFill>
                <a:latin typeface="Aptos"/>
              </a:rPr>
              <a:t>Model Comparison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8932"/>
            <a:ext cx="303640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dirty="0">
                <a:solidFill>
                  <a:srgbClr val="00B050"/>
                </a:solidFill>
                <a:latin typeface="Aptos"/>
              </a:rPr>
              <a:t>Pros, cons, accuracy, and technical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51982"/>
            <a:ext cx="3474720" cy="4763018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Detection</a:t>
            </a:r>
            <a:r>
              <a:rPr lang="en-US" sz="1500" b="1" dirty="0">
                <a:solidFill>
                  <a:srgbClr val="1057AE"/>
                </a:solidFill>
                <a:latin typeface="Aptos"/>
              </a:rPr>
              <a:t> Model</a:t>
            </a: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Pros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  <a:latin typeface="Aptos"/>
              </a:rPr>
              <a:t>F</a:t>
            </a:r>
            <a:r>
              <a:rPr sz="1100" dirty="0">
                <a:solidFill>
                  <a:srgbClr val="00B050"/>
                </a:solidFill>
                <a:latin typeface="Aptos"/>
              </a:rPr>
              <a:t>astest, simplest, easiest to explain </a:t>
            </a:r>
            <a:r>
              <a:rPr sz="1100" dirty="0">
                <a:solidFill>
                  <a:srgbClr val="122E4D"/>
                </a:solidFill>
                <a:latin typeface="Aptos"/>
              </a:rPr>
              <a:t>and deploy.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Best for operational triage and rapid screening.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00B050"/>
                </a:solidFill>
                <a:latin typeface="Aptos"/>
              </a:rPr>
              <a:t>Lower annotation effort </a:t>
            </a:r>
            <a:r>
              <a:rPr sz="1100" dirty="0">
                <a:solidFill>
                  <a:srgbClr val="122E4D"/>
                </a:solidFill>
                <a:latin typeface="Aptos"/>
              </a:rPr>
              <a:t>and faster iteration cycles.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100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Cons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C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oarse localization </a:t>
            </a:r>
            <a:r>
              <a:rPr sz="1100" dirty="0">
                <a:solidFill>
                  <a:srgbClr val="122E4D"/>
                </a:solidFill>
                <a:latin typeface="Aptos"/>
              </a:rPr>
              <a:t>and weak defect-shape precision.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Accuracy/limitations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U</a:t>
            </a:r>
            <a:r>
              <a:rPr sz="1100" dirty="0">
                <a:solidFill>
                  <a:srgbClr val="122E4D"/>
                </a:solidFill>
                <a:latin typeface="Aptos"/>
              </a:rPr>
              <a:t>seful for rough defect presence detection, not precise sizing or mask fidelity.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Run</a:t>
            </a:r>
            <a:r>
              <a:rPr sz="1100" u="sng" dirty="0">
                <a:solidFill>
                  <a:srgbClr val="122E4D"/>
                </a:solidFill>
                <a:latin typeface="Aptos"/>
              </a:rPr>
              <a:t> </a:t>
            </a:r>
            <a:r>
              <a:rPr sz="1100" b="1" u="sng" dirty="0">
                <a:solidFill>
                  <a:srgbClr val="122E4D"/>
                </a:solidFill>
                <a:latin typeface="Aptos"/>
              </a:rPr>
              <a:t>view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G</a:t>
            </a:r>
            <a:r>
              <a:rPr sz="1100" dirty="0">
                <a:solidFill>
                  <a:srgbClr val="122E4D"/>
                </a:solidFill>
                <a:latin typeface="Aptos"/>
              </a:rPr>
              <a:t>ood front-end screening model, but not the final technical judge.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60" y="951982"/>
            <a:ext cx="3474720" cy="4763018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Anomaly</a:t>
            </a:r>
            <a:r>
              <a:rPr lang="en-US" sz="1500" b="1" dirty="0">
                <a:solidFill>
                  <a:srgbClr val="1057AE"/>
                </a:solidFill>
                <a:latin typeface="Aptos"/>
              </a:rPr>
              <a:t> Model</a:t>
            </a: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Pros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  <a:latin typeface="Aptos"/>
              </a:rPr>
              <a:t>S</a:t>
            </a:r>
            <a:r>
              <a:rPr sz="1100" dirty="0">
                <a:solidFill>
                  <a:srgbClr val="00B050"/>
                </a:solidFill>
                <a:latin typeface="Aptos"/>
              </a:rPr>
              <a:t>trong for outlier detection and unknown defect discovery</a:t>
            </a:r>
            <a:r>
              <a:rPr sz="1100" dirty="0">
                <a:solidFill>
                  <a:srgbClr val="122E4D"/>
                </a:solidFill>
                <a:latin typeface="Aptos"/>
              </a:rPr>
              <a:t>.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Useful when defect taxonomy is incomplete or changing.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Good as alerting layer and review-prioritization tool.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Cons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H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igher false alarm rate</a:t>
            </a:r>
            <a:r>
              <a:rPr sz="1100" dirty="0">
                <a:solidFill>
                  <a:srgbClr val="122E4D"/>
                </a:solidFill>
                <a:latin typeface="Aptos"/>
              </a:rPr>
              <a:t> and 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weaker object-level localization.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Accuracy/limitations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E</a:t>
            </a:r>
            <a:r>
              <a:rPr sz="1100" dirty="0">
                <a:solidFill>
                  <a:srgbClr val="122E4D"/>
                </a:solidFill>
                <a:latin typeface="Aptos"/>
              </a:rPr>
              <a:t>xcellent for abnormality screening, weaker for class definition and boundary accuracy.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Run</a:t>
            </a:r>
            <a:r>
              <a:rPr sz="1100" u="sng" dirty="0">
                <a:solidFill>
                  <a:srgbClr val="122E4D"/>
                </a:solidFill>
                <a:latin typeface="Aptos"/>
              </a:rPr>
              <a:t> </a:t>
            </a:r>
            <a:r>
              <a:rPr sz="1100" b="1" u="sng" dirty="0">
                <a:solidFill>
                  <a:srgbClr val="122E4D"/>
                </a:solidFill>
                <a:latin typeface="Aptos"/>
              </a:rPr>
              <a:t>view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B</a:t>
            </a:r>
            <a:r>
              <a:rPr sz="1100" dirty="0">
                <a:solidFill>
                  <a:srgbClr val="122E4D"/>
                </a:solidFill>
                <a:latin typeface="Aptos"/>
              </a:rPr>
              <a:t>est for flags and prioritization, not for final defect certification.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951982"/>
            <a:ext cx="3474720" cy="4763018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 dirty="0">
                <a:solidFill>
                  <a:srgbClr val="1057AE"/>
                </a:solidFill>
                <a:latin typeface="Aptos"/>
              </a:rPr>
              <a:t>Instance Segmentation</a:t>
            </a:r>
            <a:r>
              <a:rPr lang="en-US" sz="1500" b="1" dirty="0">
                <a:solidFill>
                  <a:srgbClr val="1057AE"/>
                </a:solidFill>
                <a:latin typeface="Aptos"/>
              </a:rPr>
              <a:t> Model</a:t>
            </a:r>
          </a:p>
          <a:p>
            <a:pPr algn="l"/>
            <a:endParaRPr sz="1500" b="1" dirty="0">
              <a:solidFill>
                <a:srgbClr val="1057AE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Pros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B050"/>
                </a:solidFill>
                <a:latin typeface="Aptos"/>
              </a:rPr>
              <a:t>H</a:t>
            </a:r>
            <a:r>
              <a:rPr sz="1100" dirty="0">
                <a:solidFill>
                  <a:srgbClr val="00B050"/>
                </a:solidFill>
                <a:latin typeface="Aptos"/>
              </a:rPr>
              <a:t>ighest technical precision and best defect geometry understanding.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Captures exact shape, area, and boundary quality.</a:t>
            </a: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Strongest for engineering review and defect-root-cause analysis.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Cons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H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ighest annotation burden </a:t>
            </a:r>
            <a:r>
              <a:rPr sz="1100" dirty="0">
                <a:solidFill>
                  <a:srgbClr val="122E4D"/>
                </a:solidFill>
                <a:latin typeface="Aptos"/>
              </a:rPr>
              <a:t>and computational complexity.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Accuracy/limitations</a:t>
            </a:r>
            <a:r>
              <a:rPr sz="1100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22E4D"/>
                </a:solidFill>
                <a:latin typeface="Aptos"/>
              </a:rPr>
              <a:t>S</a:t>
            </a:r>
            <a:r>
              <a:rPr sz="1100" dirty="0">
                <a:solidFill>
                  <a:srgbClr val="122E4D"/>
                </a:solidFill>
                <a:latin typeface="Aptos"/>
              </a:rPr>
              <a:t>trongest technical model, but still </a:t>
            </a:r>
            <a:r>
              <a:rPr sz="110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limited by small benchmark size and annotation quality.</a:t>
            </a:r>
          </a:p>
          <a:p>
            <a:pPr algn="l">
              <a:spcAft>
                <a:spcPts val="400"/>
              </a:spcAft>
            </a:pPr>
            <a:endParaRPr lang="en-US" sz="1100" b="1" u="sng" dirty="0">
              <a:solidFill>
                <a:srgbClr val="122E4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100" b="1" u="sng" dirty="0">
                <a:solidFill>
                  <a:srgbClr val="122E4D"/>
                </a:solidFill>
                <a:latin typeface="Aptos"/>
              </a:rPr>
              <a:t>Run view</a:t>
            </a:r>
            <a:r>
              <a:rPr sz="1100" b="1" dirty="0">
                <a:solidFill>
                  <a:srgbClr val="122E4D"/>
                </a:solidFill>
                <a:latin typeface="Aptos"/>
              </a:rPr>
              <a:t>: </a:t>
            </a:r>
            <a:endParaRPr lang="en-US" sz="1100" b="1" dirty="0">
              <a:solidFill>
                <a:srgbClr val="122E4D"/>
              </a:solidFill>
              <a:latin typeface="Aptos"/>
            </a:endParaRPr>
          </a:p>
          <a:p>
            <a:pPr marL="171450" indent="-171450" algn="l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22E4D"/>
                </a:solidFill>
                <a:latin typeface="Aptos"/>
              </a:rPr>
              <a:t>NVL baseline </a:t>
            </a:r>
            <a:r>
              <a:rPr sz="1100" dirty="0" err="1">
                <a:solidFill>
                  <a:srgbClr val="122E4D"/>
                </a:solidFill>
                <a:latin typeface="Aptos"/>
              </a:rPr>
              <a:t>mAP</a:t>
            </a:r>
            <a:r>
              <a:rPr sz="1100" dirty="0">
                <a:solidFill>
                  <a:srgbClr val="122E4D"/>
                </a:solidFill>
                <a:latin typeface="Aptos"/>
              </a:rPr>
              <a:t> 22.82%, mAP@0.5 46.53%, mAP@0.75 14.85%; best validation checkpoint </a:t>
            </a:r>
            <a:r>
              <a:rPr sz="1100" dirty="0" err="1">
                <a:solidFill>
                  <a:srgbClr val="122E4D"/>
                </a:solidFill>
                <a:latin typeface="Aptos"/>
              </a:rPr>
              <a:t>mAP</a:t>
            </a:r>
            <a:r>
              <a:rPr sz="1100" dirty="0">
                <a:solidFill>
                  <a:srgbClr val="122E4D"/>
                </a:solidFill>
                <a:latin typeface="Aptos"/>
              </a:rPr>
              <a:t> 28.59%, mAP@0.5 79.21%.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8B47-05BE-B7D8-D598-49965ED4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6C8B2F-DD09-57CA-94AA-3AE51244EBE0}"/>
              </a:ext>
            </a:extLst>
          </p:cNvPr>
          <p:cNvSpPr txBox="1"/>
          <p:nvPr/>
        </p:nvSpPr>
        <p:spPr>
          <a:xfrm>
            <a:off x="457200" y="182880"/>
            <a:ext cx="17943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400" b="1" dirty="0">
                <a:solidFill>
                  <a:srgbClr val="122E4D"/>
                </a:solidFill>
                <a:latin typeface="Aptos"/>
              </a:rPr>
              <a:t>Next Steps: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C0E953-DBD3-AE92-9F65-2B2A35C084B2}"/>
              </a:ext>
            </a:extLst>
          </p:cNvPr>
          <p:cNvSpPr/>
          <p:nvPr/>
        </p:nvSpPr>
        <p:spPr>
          <a:xfrm>
            <a:off x="135303" y="1280160"/>
            <a:ext cx="11947043" cy="1368255"/>
          </a:xfrm>
          <a:prstGeom prst="rect">
            <a:avLst/>
          </a:prstGeom>
          <a:solidFill>
            <a:srgbClr val="FFFFFF"/>
          </a:solidFill>
          <a:ln w="12700">
            <a:solidFill>
              <a:srgbClr val="105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2E4D"/>
                </a:solidFill>
                <a:latin typeface="Aptos"/>
              </a:rPr>
              <a:t>Finetuning the accuracy of the models for NVL (Omkar)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2E4D"/>
                </a:solidFill>
                <a:latin typeface="Aptos"/>
              </a:rPr>
              <a:t>Work on Deployment of the Model for WIPs (Omkar)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2E4D"/>
                </a:solidFill>
                <a:latin typeface="Aptos"/>
              </a:rPr>
              <a:t>Training for the team for Geti (Omkar)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22E4D"/>
                </a:solidFill>
                <a:latin typeface="Aptos"/>
              </a:rPr>
              <a:t>Pull in team for support for other products.</a:t>
            </a:r>
            <a:endParaRPr sz="1600" dirty="0">
              <a:solidFill>
                <a:srgbClr val="122E4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8470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824</Words>
  <Application>Microsoft Office PowerPoint</Application>
  <PresentationFormat>Widescreen</PresentationFormat>
  <Paragraphs>117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Kachare, Omkar</cp:lastModifiedBy>
  <cp:revision>5</cp:revision>
  <dcterms:created xsi:type="dcterms:W3CDTF">2013-01-27T09:14:16Z</dcterms:created>
  <dcterms:modified xsi:type="dcterms:W3CDTF">2026-08-24T17:51:19Z</dcterms:modified>
  <cp:category/>
</cp:coreProperties>
</file>